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B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MODEL HACKATHON  ·  SF TECH WEEK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402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 drone that looks for one missing person’s things, with no internet.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794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9B6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camper had a blue backpack, an orange tent, and a gray dog.”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892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5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577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found on a real-time flight, no false alerts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892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 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5577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time to judge one odd-looking spot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03720" y="365760"/>
            <a:ext cx="4782312" cy="5760720"/>
          </a:xfrm>
          <a:prstGeom prst="roundRect">
            <a:avLst>
              <a:gd name="adj" fmla="val 1912"/>
            </a:avLst>
          </a:prstGeom>
          <a:solidFill>
            <a:srgbClr val="FAFAF8"/>
          </a:solidFill>
          <a:ln w="6350">
            <a:solidFill>
              <a:srgbClr val="FAFAF8"/>
            </a:solidFill>
            <a:prstDash val="solid"/>
          </a:ln>
        </p:spPr>
      </p:sp>
      <p:pic>
        <p:nvPicPr>
          <p:cNvPr id="12" name="Image 0" descr="Top-down map of the real-time flight: seven sweep lanes at 40 metres, eight closer looks, three alerts and one decoy dismis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429768"/>
            <a:ext cx="4654296" cy="564501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903720" y="61630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flight, drawn from its own log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B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it sees, thinks and finds</a:t>
            </a:r>
            <a:endParaRPr lang="en-US" sz="3400" dirty="0"/>
          </a:p>
        </p:txBody>
      </p:sp>
      <p:pic>
        <p:nvPicPr>
          <p:cNvPr id="3" name="Image 0" descr="The Patrol console at the moment of an alert: header, clue cards, zoom camera, decision trace, sector map, chase view, log and alert c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589520" cy="47434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7158" y="1342225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147158" y="13422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3088" y="1531963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63088" y="15319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580083" y="1911439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580083" y="19114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28293" y="4178808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428293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81044" y="1911439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781044" y="19114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70782" y="3998557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970782" y="39985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05149" y="5032629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705149" y="503262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30214" y="1911439"/>
            <a:ext cx="274320" cy="274320"/>
          </a:xfrm>
          <a:prstGeom prst="ellipse">
            <a:avLst/>
          </a:prstGeom>
          <a:solidFill>
            <a:srgbClr val="E4570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830214" y="19114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12480" y="1316736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823960" y="1280160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state, area searched, battery, who decided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412480" y="1901952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823960" y="1865376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clues, in qwen38’s words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412480" y="2487168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24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2450592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sweep photo, then the close-up and verdict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412480" y="3072384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823960" y="3035808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trace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crop Clef-Flash judged, and its odds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412480" y="3657600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124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823960" y="3621024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lanes, trail, spots checked, alerts, next sectors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8412480" y="4242816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823960" y="4206240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view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audience; no model uses it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412480" y="4828032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823960" y="4791456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decision, note and spoken line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8412480" y="5413248"/>
            <a:ext cx="274320" cy="274320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12480" y="5413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823960" y="5376672"/>
            <a:ext cx="2864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 </a:t>
            </a:r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crop beside the confirming close-up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502920" y="616077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moment of an alert in the demo flight: Clef-Flash has just confirmed the blue backpack from 20 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whole flight</a:t>
            </a:r>
            <a:endParaRPr lang="en-US" sz="3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02920" y="1280160"/>
            <a:ext cx="7863840" cy="4914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23960" y="1371600"/>
            <a:ext cx="28648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min 23 s, replayed at 3.5× with the alerts read aloud.</a:t>
            </a:r>
            <a:endParaRPr lang="en-US" sz="17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finds, the tarp checked and dismissed, no false alerts.</a:t>
            </a:r>
            <a:endParaRPr lang="en-US" sz="1700" dirty="0"/>
          </a:p>
          <a:p>
            <a:pPr marL="203200" indent="-2032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recording is also the stage fallback.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Searchers start with words, not photos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309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36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FAMILY SAYS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camper had a blue backpack, an orange tent, and a gray dog.”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33756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has trained a detector on this person’s blue backpack.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cell signal: an alert is about 270 bytes of text plus a 20 KB photo.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in the air. After landing, every “maybe” costs another flight.</a:t>
            </a:r>
            <a:endParaRPr lang="en-US" sz="1700" dirty="0"/>
          </a:p>
        </p:txBody>
      </p:sp>
      <p:pic>
        <p:nvPicPr>
          <p:cNvPr id="7" name="Image 0" descr="Blue backpack enlarged from a 40 metre sweep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4370832" cy="32781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0" y="480060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40 m, a backpack is a smudge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5138928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22 pixels across: enough to look odd, not enough to be 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flight in five moments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090867" cy="384048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2648" y="1527048"/>
            <a:ext cx="1871411" cy="1403558"/>
          </a:xfrm>
          <a:prstGeom prst="roundRect">
            <a:avLst>
              <a:gd name="adj" fmla="val 3909"/>
            </a:avLst>
          </a:prstGeom>
          <a:solidFill>
            <a:srgbClr val="13976A"/>
          </a:solidFill>
          <a:ln w="6350">
            <a:solidFill>
              <a:srgbClr val="1397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" y="1527048"/>
            <a:ext cx="1615379" cy="1403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“...a blue backpack, an orange tent, and a gray dog.”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3095198"/>
            <a:ext cx="347472" cy="347472"/>
          </a:xfrm>
          <a:prstGeom prst="ellipse">
            <a:avLst/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30951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95198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598118"/>
            <a:ext cx="1871411" cy="152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Parakeet writes it down. qwen38 turns each thing into a sentence about how it looks from above.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76667" y="1417320"/>
            <a:ext cx="2090867" cy="384048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pic>
        <p:nvPicPr>
          <p:cNvPr id="11" name="Image 0" descr="Sweep at 40 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6395" y="1527048"/>
            <a:ext cx="1871411" cy="140355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886395" y="3095198"/>
            <a:ext cx="347472" cy="347472"/>
          </a:xfrm>
          <a:prstGeom prst="ellipse">
            <a:avLst/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86395" y="30951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25307" y="3095198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at 40 m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886395" y="3598118"/>
            <a:ext cx="1871411" cy="152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photo every 12 m. The finder boxes odd spots; Clef-Flash says 61% backpack in about 0.3 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50414" y="1417320"/>
            <a:ext cx="2090867" cy="384048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pic>
        <p:nvPicPr>
          <p:cNvPr id="17" name="Image 1" descr="Follow a l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142" y="1527048"/>
            <a:ext cx="1871411" cy="140355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60142" y="3095198"/>
            <a:ext cx="347472" cy="347472"/>
          </a:xfrm>
          <a:prstGeom prst="ellipse">
            <a:avLst/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160142" y="30951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599054" y="3095198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lead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160142" y="3598118"/>
            <a:ext cx="1871411" cy="152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 to 20 m for a close-up. The backpack scores 94.5%: confirmed.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324161" y="1417320"/>
            <a:ext cx="2090867" cy="384048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pic>
        <p:nvPicPr>
          <p:cNvPr id="23" name="Image 2" descr="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889" y="1527048"/>
            <a:ext cx="1871411" cy="140355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507041" y="16002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507041" y="1600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433889" y="3095198"/>
            <a:ext cx="347472" cy="347472"/>
          </a:xfrm>
          <a:prstGeom prst="ellipse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433889" y="30951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7872801" y="3095198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7433889" y="3598118"/>
            <a:ext cx="1871411" cy="152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position, a photo and a spoken note. The tent alert lands 0.24 m from the tent.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9597908" y="1417320"/>
            <a:ext cx="2090867" cy="384048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pic>
        <p:nvPicPr>
          <p:cNvPr id="31" name="Image 3" descr="Think ahe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636" y="1527048"/>
            <a:ext cx="1871411" cy="140355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707636" y="3095198"/>
            <a:ext cx="347472" cy="347472"/>
          </a:xfrm>
          <a:prstGeom prst="ellipse">
            <a:avLst/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707636" y="30951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10146548" y="3095198"/>
            <a:ext cx="14324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ahead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9707636" y="3598118"/>
            <a:ext cx="1871411" cy="152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qwen38 reorders the sectors. The second find came 29.5 s sooner, on average.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502920" y="54864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flights in the simulator, with the real models deciding.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decoy dismissed, a backpack confirmed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40 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4290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 AT 20 M</a:t>
            </a:r>
            <a:endParaRPr lang="en-US" sz="1000" dirty="0"/>
          </a:p>
        </p:txBody>
      </p:sp>
      <p:pic>
        <p:nvPicPr>
          <p:cNvPr id="5" name="Image 0" descr="blue tarp from 40 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0472"/>
            <a:ext cx="2057400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0" y="2391156"/>
            <a:ext cx="548640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pic>
        <p:nvPicPr>
          <p:cNvPr id="7" name="Image 1" descr="blue tarp close-up at 20 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90472"/>
            <a:ext cx="2743200" cy="2057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20840" y="15544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720840" y="1554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DISMISSED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720840" y="2057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40 M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72084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67208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backpack?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732520" y="2057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 M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73252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87325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flat sheet. Best clue score 4%.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3611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40 M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36118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 AT 20 M</a:t>
            </a:r>
            <a:endParaRPr lang="en-US" sz="1000" dirty="0"/>
          </a:p>
        </p:txBody>
      </p:sp>
      <p:pic>
        <p:nvPicPr>
          <p:cNvPr id="18" name="Image 2" descr="blue backpack from 40 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67912"/>
            <a:ext cx="2057400" cy="2057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743200" y="4768596"/>
            <a:ext cx="548640" cy="256032"/>
          </a:xfrm>
          <a:prstGeom prst="rightArrow">
            <a:avLst/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pic>
        <p:nvPicPr>
          <p:cNvPr id="20" name="Image 3" descr="blue backpack close-up at 20 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867912"/>
            <a:ext cx="2743200" cy="20574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20840" y="39319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72084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4434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40 M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72084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3200" dirty="0"/>
          </a:p>
        </p:txBody>
      </p:sp>
      <p:sp>
        <p:nvSpPr>
          <p:cNvPr id="25" name="Text 19"/>
          <p:cNvSpPr txBox="1"/>
          <p:nvPr/>
        </p:nvSpPr>
        <p:spPr>
          <a:xfrm>
            <a:off x="672084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backpack?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8732520" y="4434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 M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732520" y="4663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45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94.5%</a:t>
            </a:r>
            <a:endParaRPr lang="en-US" sz="3200" dirty="0"/>
          </a:p>
        </p:txBody>
      </p:sp>
      <p:sp>
        <p:nvSpPr>
          <p:cNvPr id="28" name="Text 22"/>
          <p:cNvSpPr txBox="1"/>
          <p:nvPr/>
        </p:nvSpPr>
        <p:spPr>
          <a:xfrm>
            <a:off x="8732520" y="5257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Straps and pockets. Back in the lane with an alert.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02920" y="6053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Scores are Clef-Flash’s probability that the spot is the blue backpack.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fly it, three built the props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659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99616"/>
            <a:ext cx="182880" cy="182880"/>
          </a:xfrm>
          <a:prstGeom prst="ellipse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42646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Clef-Flash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47088"/>
            <a:ext cx="229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 EYES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Judges each odd spot in about 0.3 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45104" y="1280160"/>
            <a:ext cx="2659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7984" y="1499616"/>
            <a:ext cx="182880" cy="182880"/>
          </a:xfrm>
          <a:prstGeom prst="ellipse">
            <a:avLst/>
          </a:prstGeom>
          <a:solidFill>
            <a:srgbClr val="6250D6"/>
          </a:solidFill>
          <a:ln w="6350">
            <a:solidFill>
              <a:srgbClr val="6250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2304" y="142646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25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qwen38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7984" y="1847088"/>
            <a:ext cx="229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SLOW THINKER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27984" y="21031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Clue sentences, radio notes, trail plans, second opinions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7288" y="1280160"/>
            <a:ext cx="2659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70168" y="1499616"/>
            <a:ext cx="182880" cy="182880"/>
          </a:xfrm>
          <a:prstGeom prst="ellipse">
            <a:avLst/>
          </a:prstGeom>
          <a:solidFill>
            <a:srgbClr val="13976A"/>
          </a:solidFill>
          <a:ln w="6350">
            <a:solidFill>
              <a:srgbClr val="1397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4488" y="142646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9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Parakeet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70168" y="1847088"/>
            <a:ext cx="229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21031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to text in 20 to 90 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29471" y="1280160"/>
            <a:ext cx="2659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12351" y="1499616"/>
            <a:ext cx="182880" cy="182880"/>
          </a:xfrm>
          <a:prstGeom prst="ellipse">
            <a:avLst/>
          </a:prstGeom>
          <a:solidFill>
            <a:srgbClr val="13976A"/>
          </a:solidFill>
          <a:ln w="6350">
            <a:solidFill>
              <a:srgbClr val="1397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86671" y="142646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9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Kokoro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12351" y="1847088"/>
            <a:ext cx="229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212351" y="21031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every alert aloud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11185855" cy="411480"/>
          </a:xfrm>
          <a:prstGeom prst="roundRect">
            <a:avLst>
              <a:gd name="adj" fmla="val 17778"/>
            </a:avLst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0632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code flies the drone and owns safety. Models advise; no model can override it.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703320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MODELS, CHAINED BY m3d, BUILT EVERY PROP FROM ONE SENTENCE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1325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5B6B76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594360" y="402336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royal blue hiking backpack with black straps”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440680"/>
            <a:ext cx="2109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sentence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715000"/>
            <a:ext cx="2109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royal blue hiking backpack”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920240" y="4558284"/>
            <a:ext cx="310896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pic>
        <p:nvPicPr>
          <p:cNvPr id="31" name="Image 0" descr="Z-Image Tur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0675" y="4023360"/>
            <a:ext cx="1325880" cy="132588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2840675" y="5440680"/>
            <a:ext cx="2109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Z-Image Turbo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2840675" y="5715000"/>
            <a:ext cx="2109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picture, 20 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257995" y="4558284"/>
            <a:ext cx="310896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pic>
        <p:nvPicPr>
          <p:cNvPr id="35" name="Image 1" descr="Apple Vi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30" y="4023360"/>
            <a:ext cx="1325880" cy="132588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178430" y="5440680"/>
            <a:ext cx="2109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Vision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5178430" y="5715000"/>
            <a:ext cx="2109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cut-out, under a second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595750" y="4558284"/>
            <a:ext cx="310896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pic>
        <p:nvPicPr>
          <p:cNvPr id="39" name="Image 2" descr="Hunyuan3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185" y="4023360"/>
            <a:ext cx="1325880" cy="132588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7516185" y="5440680"/>
            <a:ext cx="2109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Hunyuan3D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7516185" y="5715000"/>
            <a:ext cx="2109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and textures, 260 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933505" y="4558284"/>
            <a:ext cx="310896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pic>
        <p:nvPicPr>
          <p:cNvPr id="43" name="Image 3" descr="Backpack close-up from the drone 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940" y="4023360"/>
            <a:ext cx="1767840" cy="132588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853940" y="5440680"/>
            <a:ext cx="2109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simulator</a:t>
            </a:r>
            <a:endParaRPr lang="en-US" sz="1250" dirty="0"/>
          </a:p>
        </p:txBody>
      </p:sp>
      <p:sp>
        <p:nvSpPr>
          <p:cNvPr id="45" name="Text 39"/>
          <p:cNvSpPr txBox="1"/>
          <p:nvPr/>
        </p:nvSpPr>
        <p:spPr>
          <a:xfrm>
            <a:off x="9853940" y="5715000"/>
            <a:ext cx="21091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photographed by the drone</a:t>
            </a:r>
            <a:endParaRPr lang="en-US" sz="1150" dirty="0"/>
          </a:p>
        </p:txBody>
      </p:sp>
      <p:sp>
        <p:nvSpPr>
          <p:cNvPr id="46" name="Text 40"/>
          <p:cNvSpPr txBox="1"/>
          <p:nvPr/>
        </p:nvSpPr>
        <p:spPr>
          <a:xfrm>
            <a:off x="502920" y="6126480"/>
            <a:ext cx="10271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5 minutes per item, 8 items. All of it happens before the flight.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loop, slow thinker, code in charge</a:t>
            </a:r>
            <a:endParaRPr lang="en-US" sz="3400" dirty="0"/>
          </a:p>
        </p:txBody>
      </p:sp>
      <p:pic>
        <p:nvPicPr>
          <p:cNvPr id="3" name="Image 0" descr="Diagram of how the models fit together: voice and description before take-off, the fast Clef-Flash loop on every photo, the slow qwen38 loop a few times a fl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11185855" cy="478731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610405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Clef-Flash</a:t>
            </a:r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judges every photo in about 0.3 s.   </a:t>
            </a:r>
            <a:pPr indent="0" marL="0">
              <a:buNone/>
            </a:pPr>
            <a:r>
              <a:rPr lang="en-US" sz="1300" b="1" dirty="0">
                <a:solidFill>
                  <a:srgbClr val="625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qwen38</a:t>
            </a:r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does a few background jobs.   </a:t>
            </a:r>
            <a:pPr indent="0" marL="0">
              <a:buNone/>
            </a:pPr>
            <a:r>
              <a:rPr lang="en-US" sz="13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checks every answer and owns safety.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high, look close</a:t>
            </a:r>
            <a:endParaRPr lang="en-US" sz="3400" dirty="0"/>
          </a:p>
        </p:txBody>
      </p:sp>
      <p:pic>
        <p:nvPicPr>
          <p:cNvPr id="3" name="Image 0" descr="The same blue backpack, sweep · 60 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2105497" cy="157912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2950723"/>
            <a:ext cx="21054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· 60 m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243331"/>
            <a:ext cx="2105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finder misses it</a:t>
            </a:r>
            <a:endParaRPr lang="en-US" sz="1300" dirty="0"/>
          </a:p>
        </p:txBody>
      </p:sp>
      <p:pic>
        <p:nvPicPr>
          <p:cNvPr id="6" name="Image 1" descr="The same blue backpack, sweep · 40 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09" y="1280160"/>
            <a:ext cx="2105497" cy="157912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773009" y="2950723"/>
            <a:ext cx="21054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· 40 m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2773009" y="3243331"/>
            <a:ext cx="2105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sweep height</a:t>
            </a:r>
            <a:endParaRPr lang="en-US" sz="1300" dirty="0"/>
          </a:p>
        </p:txBody>
      </p:sp>
      <p:pic>
        <p:nvPicPr>
          <p:cNvPr id="9" name="Image 2" descr="The same blue backpack, sweep · 20 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099" y="1280160"/>
            <a:ext cx="2105497" cy="157912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43099" y="2950723"/>
            <a:ext cx="21054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· 20 m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043099" y="3243331"/>
            <a:ext cx="2105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easy, but twice the lanes</a:t>
            </a:r>
            <a:endParaRPr lang="en-US" sz="1300" dirty="0"/>
          </a:p>
        </p:txBody>
      </p:sp>
      <p:pic>
        <p:nvPicPr>
          <p:cNvPr id="12" name="Image 3" descr="The same blue backpack, zoom · 20 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188" y="1280160"/>
            <a:ext cx="2105497" cy="157912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313188" y="2950723"/>
            <a:ext cx="21054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· 20 m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7313188" y="3243331"/>
            <a:ext cx="2105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closer look</a:t>
            </a:r>
            <a:endParaRPr lang="en-US" sz="1300" dirty="0"/>
          </a:p>
        </p:txBody>
      </p:sp>
      <p:pic>
        <p:nvPicPr>
          <p:cNvPr id="15" name="Image 4" descr="The same blue backpack, zoom · 12 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3278" y="1280160"/>
            <a:ext cx="2105497" cy="157912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583278" y="2950723"/>
            <a:ext cx="21054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· 12 m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9583278" y="3243331"/>
            <a:ext cx="2105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if unsure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02920" y="3931920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9" name="Text 12"/>
          <p:cNvSpPr txBox="1"/>
          <p:nvPr/>
        </p:nvSpPr>
        <p:spPr>
          <a:xfrm>
            <a:off x="777240" y="41605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10</a:t>
            </a:r>
            <a:endParaRPr lang="en-US" sz="4000" dirty="0"/>
          </a:p>
        </p:txBody>
      </p:sp>
      <p:sp>
        <p:nvSpPr>
          <p:cNvPr id="20" name="Text 13"/>
          <p:cNvSpPr txBox="1"/>
          <p:nvPr/>
        </p:nvSpPr>
        <p:spPr>
          <a:xfrm>
            <a:off x="777240" y="512064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where the finder found the backpack from 60 m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292498" y="3931920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4566818" y="41605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of 10</a:t>
            </a:r>
            <a:endParaRPr lang="en-US" sz="4000" dirty="0"/>
          </a:p>
        </p:txBody>
      </p:sp>
      <p:sp>
        <p:nvSpPr>
          <p:cNvPr id="23" name="Text 16"/>
          <p:cNvSpPr txBox="1"/>
          <p:nvPr/>
        </p:nvSpPr>
        <p:spPr>
          <a:xfrm>
            <a:off x="4566818" y="512064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where it found it from 40 m, so 40 m is the sweep height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82077" y="3931920"/>
            <a:ext cx="360669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8356397" y="41605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vs 13</a:t>
            </a:r>
            <a:endParaRPr lang="en-US" sz="4000" dirty="0"/>
          </a:p>
        </p:txBody>
      </p:sp>
      <p:sp>
        <p:nvSpPr>
          <p:cNvPr id="26" name="Text 19"/>
          <p:cNvSpPr txBox="1"/>
          <p:nvPr/>
        </p:nvSpPr>
        <p:spPr>
          <a:xfrm>
            <a:off x="8356397" y="512064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lanes to cover the 160 m square from 40 m versus 20 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means fewer lanes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4983480"/>
            <a:ext cx="11185855" cy="731520"/>
          </a:xfrm>
          <a:prstGeom prst="rect">
            <a:avLst/>
          </a:prstGeom>
          <a:solidFill>
            <a:srgbClr val="E8ECE6"/>
          </a:solidFill>
          <a:ln w="6350">
            <a:solidFill>
              <a:srgbClr val="E8EC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983480"/>
            <a:ext cx="11185855" cy="0"/>
          </a:xfrm>
          <a:prstGeom prst="line">
            <a:avLst/>
          </a:prstGeom>
          <a:noFill/>
          <a:ln w="12700">
            <a:solidFill>
              <a:srgbClr val="5B6B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65960"/>
            <a:ext cx="0" cy="3017520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965960"/>
            <a:ext cx="91440" cy="0"/>
          </a:xfrm>
          <a:prstGeom prst="line">
            <a:avLst/>
          </a:prstGeom>
          <a:noFill/>
          <a:ln w="12700">
            <a:solidFill>
              <a:srgbClr val="5B6B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828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4128" y="3474720"/>
            <a:ext cx="91440" cy="0"/>
          </a:xfrm>
          <a:prstGeom prst="line">
            <a:avLst/>
          </a:prstGeom>
          <a:noFill/>
          <a:ln w="12700">
            <a:solidFill>
              <a:srgbClr val="5B6B7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4128" y="4078224"/>
            <a:ext cx="91440" cy="0"/>
          </a:xfrm>
          <a:prstGeom prst="line">
            <a:avLst/>
          </a:prstGeom>
          <a:noFill/>
          <a:ln w="12700">
            <a:solidFill>
              <a:srgbClr val="5B6B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9410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4128" y="4983480"/>
            <a:ext cx="91440" cy="0"/>
          </a:xfrm>
          <a:prstGeom prst="line">
            <a:avLst/>
          </a:prstGeom>
          <a:noFill/>
          <a:ln w="12700">
            <a:solidFill>
              <a:srgbClr val="5B6B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5001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neighbouring lanes, seen end-on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22121" y="2020824"/>
            <a:ext cx="2459279" cy="2962656"/>
          </a:xfrm>
          <a:prstGeom prst="triangle">
            <a:avLst/>
          </a:prstGeom>
          <a:solidFill>
            <a:srgbClr val="2A78D6">
              <a:alpha val="18000"/>
            </a:srgbClr>
          </a:solidFill>
          <a:ln w="9525">
            <a:solidFill>
              <a:srgbClr val="8DB4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9651" y="2020824"/>
            <a:ext cx="2459279" cy="2962656"/>
          </a:xfrm>
          <a:prstGeom prst="triangle">
            <a:avLst/>
          </a:prstGeom>
          <a:solidFill>
            <a:srgbClr val="2A78D6">
              <a:alpha val="12000"/>
            </a:srgbClr>
          </a:solidFill>
          <a:ln w="9525">
            <a:solidFill>
              <a:srgbClr val="8DB4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1911096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1521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16352" y="1911096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1521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7168" y="1965960"/>
            <a:ext cx="329184" cy="0"/>
          </a:xfrm>
          <a:prstGeom prst="line">
            <a:avLst/>
          </a:prstGeom>
          <a:noFill/>
          <a:ln w="19050">
            <a:solidFill>
              <a:srgbClr val="1521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1911096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04970" y="1911096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1521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3882" y="1911096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1521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4698" y="1965960"/>
            <a:ext cx="329184" cy="0"/>
          </a:xfrm>
          <a:prstGeom prst="line">
            <a:avLst/>
          </a:prstGeom>
          <a:noFill/>
          <a:ln w="19050">
            <a:solidFill>
              <a:srgbClr val="1521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87850" y="1911096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1783080"/>
            <a:ext cx="1361770" cy="0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headEnd type="triangl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468880" y="1481328"/>
            <a:ext cx="2093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22.9 m between lanes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103931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overlap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422121" y="5184648"/>
            <a:ext cx="2459279" cy="0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239241" y="5257800"/>
            <a:ext cx="2825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32.6 m of ground in each photo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118872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closer look at one spot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701784" y="3474720"/>
            <a:ext cx="1069848" cy="1508760"/>
          </a:xfrm>
          <a:custGeom>
            <a:avLst/>
            <a:gdLst/>
            <a:ahLst/>
            <a:cxnLst/>
            <a:rect l="l" t="t" r="r" b="b"/>
            <a:pathLst>
              <a:path w="1069848" h="1508760">
                <a:moveTo>
                  <a:pt x="0" y="0"/>
                </a:moveTo>
                <a:lnTo>
                  <a:pt x="740664" y="1508760"/>
                </a:lnTo>
                <a:lnTo>
                  <a:pt x="1069848" y="1508760"/>
                </a:lnTo>
                <a:close/>
              </a:path>
            </a:pathLst>
          </a:custGeom>
          <a:solidFill>
            <a:srgbClr val="E4570E">
              <a:alpha val="22000"/>
            </a:srgbClr>
          </a:solidFill>
          <a:ln w="9525">
            <a:solidFill>
              <a:srgbClr val="E4570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63886" y="4078224"/>
            <a:ext cx="634594" cy="905256"/>
          </a:xfrm>
          <a:custGeom>
            <a:avLst/>
            <a:gdLst/>
            <a:ahLst/>
            <a:cxnLst/>
            <a:rect l="l" t="t" r="r" b="b"/>
            <a:pathLst>
              <a:path w="634594" h="905256">
                <a:moveTo>
                  <a:pt x="0" y="0"/>
                </a:moveTo>
                <a:lnTo>
                  <a:pt x="451714" y="905256"/>
                </a:lnTo>
                <a:lnTo>
                  <a:pt x="634594" y="905256"/>
                </a:lnTo>
                <a:close/>
              </a:path>
            </a:pathLst>
          </a:custGeom>
          <a:solidFill>
            <a:srgbClr val="5B6B76">
              <a:alpha val="30000"/>
            </a:srgbClr>
          </a:solidFill>
          <a:ln w="9525">
            <a:solidFill>
              <a:srgbClr val="5B6B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27464" y="3419856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E4570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66376" y="3419856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E4570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37192" y="3474720"/>
            <a:ext cx="329184" cy="0"/>
          </a:xfrm>
          <a:prstGeom prst="line">
            <a:avLst/>
          </a:prstGeom>
          <a:noFill/>
          <a:ln w="19050">
            <a:solidFill>
              <a:srgbClr val="E4570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0344" y="3419856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E4570E"/>
          </a:solidFill>
          <a:ln w="6350">
            <a:solidFill>
              <a:srgbClr val="E4570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89566" y="4023360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5B6B7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28478" y="4023360"/>
            <a:ext cx="109728" cy="109728"/>
          </a:xfrm>
          <a:prstGeom prst="ellipse">
            <a:avLst/>
          </a:prstGeom>
          <a:solidFill>
            <a:srgbClr val="F3F5F2"/>
          </a:solidFill>
          <a:ln w="15875">
            <a:solidFill>
              <a:srgbClr val="5B6B7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99294" y="4078224"/>
            <a:ext cx="329184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72446" y="4023360"/>
            <a:ext cx="182880" cy="109728"/>
          </a:xfrm>
          <a:prstGeom prst="roundRect">
            <a:avLst>
              <a:gd name="adj" fmla="val 25000"/>
            </a:avLst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33888" y="4910328"/>
            <a:ext cx="146304" cy="146304"/>
          </a:xfrm>
          <a:prstGeom prst="ellipse">
            <a:avLst/>
          </a:prstGeom>
          <a:solidFill>
            <a:srgbClr val="F3F5F2"/>
          </a:solidFill>
          <a:ln w="19050">
            <a:solidFill>
              <a:srgbClr val="E4570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15784" y="33192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look at 20 m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97726" y="39227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step at 12 m, only if unsure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187452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hover 0.6 × the height short of the spot, about 31° off vertical; the zoom frames about 4 m of ground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418320" y="5093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backpack, 0.55 m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0" y="5367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(drawn to scale)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58978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40 m, 7 lanes cover the square. At 20 m it would take 13.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model sees only what it must</a:t>
            </a:r>
            <a:endParaRPr lang="en-US" sz="3400" dirty="0"/>
          </a:p>
        </p:txBody>
      </p:sp>
      <p:pic>
        <p:nvPicPr>
          <p:cNvPr id="3" name="Image 0" descr="Log-scale bar chart of one flight: 1,234 control ticks, 125 sweep photos, 375 odd spots boxed by the finder, 163 crops judged by Clef-Flash, 8 closer looks, 8 close-ups judged, 3 alerts, 6 qwen38 jobs, 3 spoken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498080" cy="3494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04895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flight: 683 s over a 160 × 160 m square. Clef-Flash’s 171 calls took about 56 s of model time; qwen38’s 6 jobs about 15 s, in the background.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366760" y="1371600"/>
            <a:ext cx="332201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864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194560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 spots boxed by the CPU finder, on every photo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2926080"/>
            <a:ext cx="332201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0" y="3017520"/>
            <a:ext cx="2864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3749040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crops judged by Clef-Flash, plus 8 close-ups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4480560"/>
            <a:ext cx="332201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595360" y="4572000"/>
            <a:ext cx="2864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25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5303520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qwen38 jobs: 3 radio notes, 3 trail plans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to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80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SAYS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1280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CLEF-FLASH ROUTES IT TO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098280" y="1280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2120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13976A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“Missing hiker. Blue backpack, orange tent, grey dog.”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828800"/>
            <a:ext cx="246888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728216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7282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6002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qwen38 writes the clue cards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52120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13976A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24688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“Start the search.”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2697480"/>
            <a:ext cx="246888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596896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25968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start_search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46888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off and sweep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337560"/>
            <a:ext cx="52120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13976A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3375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“Go back to the last alert.”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60720" y="3566160"/>
            <a:ext cx="246888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3465576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34655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go_back_to_last_alert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3375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fly back and look again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52120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13976A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1520" y="42062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“Stop searching and come home.”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760720" y="4434840"/>
            <a:ext cx="246888" cy="256032"/>
          </a:xfrm>
          <a:prstGeom prst="rightArrow">
            <a:avLst/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4334256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43342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return_home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42062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home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5257800"/>
            <a:ext cx="360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to 90 ms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715000"/>
            <a:ext cx="3606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Parakeet, speech to text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292498" y="5257800"/>
            <a:ext cx="360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4292498" y="5715000"/>
            <a:ext cx="3606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Clef-Flash confidence to act on a command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082077" y="5257800"/>
            <a:ext cx="360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94.7%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8082077" y="5715000"/>
            <a:ext cx="3606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on the operator’s spoken description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laptop, no internet</a:t>
            </a:r>
            <a:endParaRPr lang="en-US" sz="3400" dirty="0"/>
          </a:p>
        </p:txBody>
      </p:sp>
      <p:pic>
        <p:nvPicPr>
          <p:cNvPr id="3" name="Image 0" descr="Bar of model weights in 128 GB of unified memory: qwen38 about 70 GB, Clef-Flash 11, voice 2.7, simulator 1.7, about 43 GB free for mac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11185855" cy="17952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3429000"/>
            <a:ext cx="360669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36576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GB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343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MacBook Pro M5 Max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75488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40-core GPU and 128 GB of unified memory run every model, the simulator and the console at once.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2498" y="3429000"/>
            <a:ext cx="360669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66818" y="36576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566818" y="4343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local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66818" y="475488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model runs on the laptop and nothing in the code calls out.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82077" y="3429000"/>
            <a:ext cx="360669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356397" y="36576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 to 0.4 s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356397" y="4343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GPU is the limit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56397" y="475488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Clef-Flash answers that fast when the GPU is free. With another job running, 2 to 6 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end to end, in a simulator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659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on a real-time flight, 683 s, no false alerts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45104" y="1280160"/>
            <a:ext cx="2659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73704" y="150876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of 18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73704" y="246888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flights pass, over three sets of fresh seeds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7288" y="1280160"/>
            <a:ext cx="2659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15888" y="150876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in 45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46888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alerts across 45 flights and 95 alerts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29471" y="1280160"/>
            <a:ext cx="2659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58071" y="150876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vs 7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58071" y="246888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alerts, live versus reviewing photos after landing</a:t>
            </a:r>
            <a:endParaRPr lang="en-US" sz="1300" dirty="0"/>
          </a:p>
        </p:txBody>
      </p:sp>
      <p:pic>
        <p:nvPicPr>
          <p:cNvPr id="15" name="Image 0" descr="Grey dog close-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703320"/>
            <a:ext cx="2560320" cy="1920240"/>
          </a:xfrm>
          <a:prstGeom prst="rect">
            <a:avLst/>
          </a:prstGeom>
        </p:spPr>
      </p:pic>
      <p:pic>
        <p:nvPicPr>
          <p:cNvPr id="16" name="Image 1" descr="Yellow helmet close-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703320"/>
            <a:ext cx="2560320" cy="1920240"/>
          </a:xfrm>
          <a:prstGeom prst="rect">
            <a:avLst/>
          </a:prstGeom>
        </p:spPr>
      </p:pic>
      <p:pic>
        <p:nvPicPr>
          <p:cNvPr id="17" name="Image 2" descr="Green sleeping bag close-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03320"/>
            <a:ext cx="2560320" cy="1920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69680" y="370332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from words alone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869680" y="4160520"/>
            <a:ext cx="2819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Dog, helmet (0.3 m) and sleeping bag: items never used for tuning.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589788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these as “this behaviour works”, not as real-world detection rates.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doesn’t work yet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8585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5212B"/>
          </a:solidFill>
          <a:ln w="6350">
            <a:solidFill>
              <a:srgbClr val="1521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PASSED, NARROWLY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28016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battery is the limit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80160"/>
            <a:ext cx="5425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four-clue flight ran out of its simulated 20-minute battery in all three seed sets. The battery is now 30 minutes; re-runs pending.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1118585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42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420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26771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items lean on qwen38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67712"/>
            <a:ext cx="5425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Clef-Flash’s close-ups score 0.12 to 0.29 on held-out items. Two of four finds came via a second opinion.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55264"/>
            <a:ext cx="1118585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9584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5295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25526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only seen a simulator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255264"/>
            <a:ext cx="5425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 ground, no wind, no GPS error. Real aerial imagery is untested.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242816"/>
            <a:ext cx="1118585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51713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5171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24281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radio, no Wi-Fi-off rehearsal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4242816"/>
            <a:ext cx="5425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alert is radio-sized, but no radio exists. Offline is by design, not yet by test.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5230368"/>
            <a:ext cx="1118585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BD6"/>
            </a:solidFill>
            <a:prstDash val="solid"/>
          </a:ln>
          <a:effectLst>
            <a:outerShdw sx="100000" sy="100000" kx="0" ky="0" algn="bl" rotWithShape="0" blurRad="101600" dist="25400" dir="5400000">
              <a:srgbClr val="15212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550468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5B6B76"/>
          </a:solidFill>
          <a:ln w="6350">
            <a:solidFill>
              <a:srgbClr val="5B6B7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504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523036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numbers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5230368"/>
            <a:ext cx="54251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seed sets per scenario, two seeds for the trail test, six flights for live versus after landing.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2090867" cy="3383280"/>
          </a:xfrm>
          <a:prstGeom prst="roundRect">
            <a:avLst>
              <a:gd name="adj" fmla="val 3499"/>
            </a:avLst>
          </a:prstGeom>
          <a:solidFill>
            <a:srgbClr val="1E2E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9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246888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on a 30‑minute battery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3383280"/>
            <a:ext cx="168853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four-clue flight ran out of 20 minutes in every seed set. Re-runs are under 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6667" y="1463040"/>
            <a:ext cx="2090867" cy="3383280"/>
          </a:xfrm>
          <a:prstGeom prst="roundRect">
            <a:avLst>
              <a:gd name="adj" fmla="val 3499"/>
            </a:avLst>
          </a:prstGeom>
          <a:solidFill>
            <a:srgbClr val="1E2E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7835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9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77835" y="246888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Wi-Fi-off rehearsal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77835" y="3383280"/>
            <a:ext cx="168853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whole demo with the network actually off. About ten minutes.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50414" y="1463040"/>
            <a:ext cx="2090867" cy="3383280"/>
          </a:xfrm>
          <a:prstGeom prst="roundRect">
            <a:avLst>
              <a:gd name="adj" fmla="val 3499"/>
            </a:avLst>
          </a:prstGeom>
          <a:solidFill>
            <a:srgbClr val="1E2E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158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9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251582" y="246888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aerial photos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51582" y="3383280"/>
            <a:ext cx="168853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 HERIDAL, SARD or WiSARD imagery. Approved; dataset licences are being checked.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24161" y="1463040"/>
            <a:ext cx="2090867" cy="3383280"/>
          </a:xfrm>
          <a:prstGeom prst="roundRect">
            <a:avLst>
              <a:gd name="adj" fmla="val 3499"/>
            </a:avLst>
          </a:prstGeom>
          <a:solidFill>
            <a:srgbClr val="1E2E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329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9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525329" y="246888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after-landing pass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25329" y="3383280"/>
            <a:ext cx="168853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Re-check saved photos, but only send a team to spots no close-up cleared. A day of work.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97908" y="1463040"/>
            <a:ext cx="2090867" cy="3383280"/>
          </a:xfrm>
          <a:prstGeom prst="roundRect">
            <a:avLst>
              <a:gd name="adj" fmla="val 3499"/>
            </a:avLst>
          </a:prstGeom>
          <a:solidFill>
            <a:srgbClr val="1E2E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9076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9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799076" y="2468880"/>
            <a:ext cx="1688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flight software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99076" y="3383280"/>
            <a:ext cx="168853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PX4 in simulation, then a real drone. Weeks, and hardware.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212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convincing simulator to evidence that matters on real ground.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4013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6B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rol">
  <a:themeElements>
    <a:clrScheme name="Patrol">
      <a:dk1>
        <a:srgbClr val="15212B"/>
      </a:dk1>
      <a:lt1>
        <a:srgbClr val="FFFFFF"/>
      </a:lt1>
      <a:dk2>
        <a:srgbClr val="15212B"/>
      </a:dk2>
      <a:lt2>
        <a:srgbClr val="F3F5F2"/>
      </a:lt2>
      <a:accent1>
        <a:srgbClr val="2A78D6"/>
      </a:accent1>
      <a:accent2>
        <a:srgbClr val="6250D6"/>
      </a:accent2>
      <a:accent3>
        <a:srgbClr val="13976A"/>
      </a:accent3>
      <a:accent4>
        <a:srgbClr val="E4570E"/>
      </a:accent4>
      <a:accent5>
        <a:srgbClr val="5B6B76"/>
      </a:accent5>
      <a:accent6>
        <a:srgbClr val="C98A00"/>
      </a:accent6>
      <a:hlink>
        <a:srgbClr val="2A78D6"/>
      </a:hlink>
      <a:folHlink>
        <a:srgbClr val="6250D6"/>
      </a:folHlink>
    </a:clrScheme>
    <a:fontScheme name="Patro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Patrol: a search drone that works from words, offline</dc:title>
  <dc:subject>PptxGenJS Presentation</dc:subject>
  <dc:creator>Patrol</dc:creator>
  <cp:lastModifiedBy>Patrol</cp:lastModifiedBy>
  <cp:revision>1</cp:revision>
  <dcterms:created xsi:type="dcterms:W3CDTF">2026-10-11T23:10:25Z</dcterms:created>
  <dcterms:modified xsi:type="dcterms:W3CDTF">2026-10-11T23:10:25Z</dcterms:modified>
</cp:coreProperties>
</file>